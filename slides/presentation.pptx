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sentence: this is the story of the whole internship — from backend engineering to a submitted V&amp;V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the first month — it sets up the whole arc.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 Mention the notebooks are interactive — sliders, live solvers.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real project: fully observed MDP, certified explanation framework. ~1.25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RNG-parity point is the punchline — the Julia port reproduces the Python episodes bit for bit.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the main project. ~30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V&amp;V framing.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Story line: A1 → A2/A3 → A6/A8 → A9.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matrix top to bottom.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Frames reconstructed from telemetry; circles on the curves are the same steps.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Personal close before Q&amp;A. ~45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and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9A45C"/>
                </a:solidFill>
                <a:latin typeface="Poppins"/>
              </a:rPr>
              <a:t>A I   V E R I F I C A T I O N   &amp;   V A L I D A T I O N   L A B   —   I N T E R N S H I P   S U M M A R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oppins SemiBold"/>
              </a:rPr>
              <a:t>From </a:t>
            </a:r>
            <a:r>
              <a:rPr sz="3400" b="1">
                <a:solidFill>
                  <a:srgbClr val="C9A45C"/>
                </a:solidFill>
                <a:latin typeface="Poppins SemiBold"/>
              </a:rPr>
              <a:t>Backend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Poppins SemiBold"/>
              </a:rPr>
              <a:t>to Closed-Loop </a:t>
            </a:r>
            <a:r>
              <a:rPr sz="3400" b="1">
                <a:solidFill>
                  <a:srgbClr val="C9A45C"/>
                </a:solidFill>
                <a:latin typeface="Poppins SemiBold"/>
              </a:rPr>
              <a:t>V&amp;V</a:t>
            </a:r>
            <a:r>
              <a:rPr sz="3400" b="1">
                <a:solidFill>
                  <a:srgbClr val="FFFFFF"/>
                </a:solidFill>
                <a:latin typeface="Poppins SemiBold"/>
              </a:rPr>
              <a:t>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8C4BA"/>
                </a:solidFill>
                <a:latin typeface="Poppins"/>
              </a:rPr>
              <a:t>Learning, building, and evaluating decision-making policies under uncertainty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D9E7E1"/>
                </a:solidFill>
                <a:latin typeface="Poppins"/>
              </a:rPr>
              <a:t>Ahmad Alfan Alfian Irfan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C4BA"/>
                </a:solidFill>
                <a:latin typeface="Poppins"/>
              </a:rPr>
              <a:t>AI VnV Research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T H E   S T A R T I N G   P O I N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A backend engineer, curious about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Background: backend engineering — not computer-science research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The curiosity: how do agents </a:t>
            </a:r>
            <a:r>
              <a:rPr sz="1600" b="1">
                <a:solidFill>
                  <a:srgbClr val="C9A45C"/>
                </a:solidFill>
                <a:latin typeface="Poppins"/>
              </a:rPr>
              <a:t>decide under uncertainty</a:t>
            </a:r>
            <a:r>
              <a:rPr sz="1600" b="0">
                <a:solidFill>
                  <a:srgbClr val="D9E7E1"/>
                </a:solidFill>
                <a:latin typeface="Poppins"/>
              </a:rPr>
              <a:t>? (POMDPs)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Month one, honestly: unfamiliar ground — the theory, the tooling, the papers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The result was </a:t>
            </a:r>
            <a:r>
              <a:rPr sz="1600" b="1">
                <a:solidFill>
                  <a:srgbClr val="C9A45C"/>
                </a:solidFill>
                <a:latin typeface="Poppins"/>
              </a:rPr>
              <a:t>bad performance</a:t>
            </a:r>
            <a:r>
              <a:rPr sz="1600" b="0">
                <a:solidFill>
                  <a:srgbClr val="D9E7E1"/>
                </a:solidFill>
                <a:latin typeface="Poppins"/>
              </a:rPr>
              <a:t> — and a decision to fix it properly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8C4BA"/>
                </a:solidFill>
                <a:latin typeface="Poppins"/>
              </a:rPr>
              <a:t>The gap was fundamentals, not effort.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T H E   R E S E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Back to fundamentals, deliberately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Diagnosed the gap: decision-making theory and its ecosystem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1">
                <a:solidFill>
                  <a:srgbClr val="C9A45C"/>
                </a:solidFill>
                <a:latin typeface="Poppins"/>
              </a:rPr>
              <a:t>Coursera</a:t>
            </a:r>
            <a:r>
              <a:rPr sz="1600" b="0">
                <a:solidFill>
                  <a:srgbClr val="D9E7E1"/>
                </a:solidFill>
                <a:latin typeface="Poppins"/>
              </a:rPr>
              <a:t> — decision-making course, from MDP basics up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1">
                <a:solidFill>
                  <a:srgbClr val="C9A45C"/>
                </a:solidFill>
                <a:latin typeface="Poppins"/>
              </a:rPr>
              <a:t>JuliaAcademy</a:t>
            </a:r>
            <a:r>
              <a:rPr sz="1600" b="0">
                <a:solidFill>
                  <a:srgbClr val="D9E7E1"/>
                </a:solidFill>
                <a:latin typeface="Poppins"/>
              </a:rPr>
              <a:t> — Decision Making Under Uncertainty with POMDPs.jl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Rule adopted: every concept gets </a:t>
            </a:r>
            <a:r>
              <a:rPr sz="1600" b="1">
                <a:solidFill>
                  <a:srgbClr val="C9A45C"/>
                </a:solidFill>
                <a:latin typeface="Poppins"/>
              </a:rPr>
              <a:t>rebuilt in code</a:t>
            </a:r>
            <a:r>
              <a:rPr sz="1600" b="0">
                <a:solidFill>
                  <a:srgbClr val="D9E7E1"/>
                </a:solidFill>
                <a:latin typeface="Poppins"/>
              </a:rPr>
              <a:t> before moving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8C4BA"/>
                </a:solidFill>
                <a:latin typeface="Poppins"/>
              </a:rPr>
              <a:t>Learn → build → verify became the working loop for everything after.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L E A R N I N G   B Y   B U I L D I N 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Pluto notebooks as the learning medium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Hands-on </a:t>
            </a:r>
            <a:r>
              <a:rPr sz="1600" b="1">
                <a:solidFill>
                  <a:srgbClr val="C9A45C"/>
                </a:solidFill>
                <a:latin typeface="Poppins"/>
              </a:rPr>
              <a:t>Pluto notebooks</a:t>
            </a:r>
            <a:r>
              <a:rPr sz="1600" b="0">
                <a:solidFill>
                  <a:srgbClr val="D9E7E1"/>
                </a:solidFill>
                <a:latin typeface="Poppins"/>
              </a:rPr>
              <a:t>: MDP and POMDP from first principles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Interactive </a:t>
            </a:r>
            <a:r>
              <a:rPr sz="1600" b="1">
                <a:solidFill>
                  <a:srgbClr val="C9A45C"/>
                </a:solidFill>
                <a:latin typeface="Poppins"/>
              </a:rPr>
              <a:t>solver playground</a:t>
            </a:r>
            <a:r>
              <a:rPr sz="1600" b="0">
                <a:solidFill>
                  <a:srgbClr val="D9E7E1"/>
                </a:solidFill>
                <a:latin typeface="Poppins"/>
              </a:rPr>
              <a:t> — explore the JuliaPOMDP solver ecosystem side by side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Worked through the </a:t>
            </a:r>
            <a:r>
              <a:rPr sz="1600" b="1">
                <a:solidFill>
                  <a:srgbClr val="C9A45C"/>
                </a:solidFill>
                <a:latin typeface="Poppins"/>
              </a:rPr>
              <a:t>Gallery of POMDPs.jl</a:t>
            </a:r>
            <a:r>
              <a:rPr sz="1600" b="0">
                <a:solidFill>
                  <a:srgbClr val="D9E7E1"/>
                </a:solidFill>
                <a:latin typeface="Poppins"/>
              </a:rPr>
              <a:t> examples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The notebooks double as a learning medium for the next intern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292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9A45C"/>
                </a:solidFill>
                <a:latin typeface="Poppins"/>
              </a:rPr>
              <a:t>github.com/PannnTastic/Decision-Making-Under-Uncertainty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F I R S T   P R O J E C T   —   D U C K I E M D 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Certified explanations for MDP driving policies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35808" y="1618488"/>
            <a:ext cx="3681984" cy="2798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dp_expl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691640"/>
            <a:ext cx="3535680" cy="2651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572000"/>
            <a:ext cx="107899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C9A45C"/>
                </a:solidFill>
                <a:latin typeface="Poppins"/>
              </a:rPr>
              <a:t>•  </a:t>
            </a:r>
            <a:r>
              <a:rPr sz="1300" b="0">
                <a:solidFill>
                  <a:srgbClr val="D9E7E1"/>
                </a:solidFill>
                <a:latin typeface="Poppins"/>
              </a:rPr>
              <a:t>MDP formulation of Duckietown driving; explanations in three pillars: </a:t>
            </a:r>
            <a:r>
              <a:rPr sz="1300" b="1">
                <a:solidFill>
                  <a:srgbClr val="C9A45C"/>
                </a:solidFill>
                <a:latin typeface="Poppins"/>
              </a:rPr>
              <a:t>why this action</a:t>
            </a:r>
            <a:r>
              <a:rPr sz="1300" b="0">
                <a:solidFill>
                  <a:srgbClr val="D9E7E1"/>
                </a:solidFill>
                <a:latin typeface="Poppins"/>
              </a:rPr>
              <a:t> · </a:t>
            </a:r>
            <a:r>
              <a:rPr sz="1300" b="1">
                <a:solidFill>
                  <a:srgbClr val="C9A45C"/>
                </a:solidFill>
                <a:latin typeface="Poppins"/>
              </a:rPr>
              <a:t>what if another</a:t>
            </a:r>
            <a:r>
              <a:rPr sz="1300" b="0">
                <a:solidFill>
                  <a:srgbClr val="D9E7E1"/>
                </a:solidFill>
                <a:latin typeface="Poppins"/>
              </a:rPr>
              <a:t> · </a:t>
            </a:r>
            <a:r>
              <a:rPr sz="1300" b="1">
                <a:solidFill>
                  <a:srgbClr val="C9A45C"/>
                </a:solidFill>
                <a:latin typeface="Poppins"/>
              </a:rPr>
              <a:t>is it consistent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C9A45C"/>
                </a:solidFill>
                <a:latin typeface="Poppins"/>
              </a:rPr>
              <a:t>•  </a:t>
            </a:r>
            <a:r>
              <a:rPr sz="1300" b="0">
                <a:solidFill>
                  <a:srgbClr val="D9E7E1"/>
                </a:solidFill>
                <a:latin typeface="Poppins"/>
              </a:rPr>
              <a:t>Counterfactual rollouts share exogenous noise — outcome claims settled </a:t>
            </a:r>
            <a:r>
              <a:rPr sz="1300" b="1">
                <a:solidFill>
                  <a:srgbClr val="C9A45C"/>
                </a:solidFill>
                <a:latin typeface="Poppins"/>
              </a:rPr>
              <a:t>exactly</a:t>
            </a:r>
            <a:r>
              <a:rPr sz="1300" b="0">
                <a:solidFill>
                  <a:srgbClr val="D9E7E1"/>
                </a:solidFill>
                <a:latin typeface="Poppins"/>
              </a:rPr>
              <a:t>, across Q-learning, SARSA, SAC, TD3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978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9A45C"/>
                </a:solidFill>
                <a:latin typeface="Poppins"/>
              </a:rPr>
              <a:t>github.com/PannnTastic/DuckieMDP</a:t>
            </a:r>
            <a:r>
              <a:rPr sz="1300" b="0">
                <a:solidFill>
                  <a:srgbClr val="A8C4BA"/>
                </a:solidFill>
                <a:latin typeface="Poppins"/>
              </a:rPr>
              <a:t>  · arXiv preprint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S I D E   P R O J E C T   —   D U C K I E T O W N . J 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The simulator, reborn in Julia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2029968"/>
            <a:ext cx="5907024" cy="23141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uckietown_j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03120"/>
            <a:ext cx="5760720" cy="21678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6634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A8C4BA"/>
                </a:solidFill>
                <a:latin typeface="Poppins"/>
              </a:rPr>
              <a:t>DORA solver completing a lap, drawn by the package's native renderer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21945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C9A45C"/>
                </a:solidFill>
                <a:latin typeface="Poppins"/>
              </a:rPr>
              <a:t>•  </a:t>
            </a:r>
            <a:r>
              <a:rPr sz="1300" b="0">
                <a:solidFill>
                  <a:srgbClr val="D9E7E1"/>
                </a:solidFill>
                <a:latin typeface="Poppins"/>
              </a:rPr>
              <a:t>Native </a:t>
            </a:r>
            <a:r>
              <a:rPr sz="1300" b="1">
                <a:solidFill>
                  <a:srgbClr val="C9A45C"/>
                </a:solidFill>
                <a:latin typeface="Poppins"/>
              </a:rPr>
              <a:t>POMDPs.jl</a:t>
            </a:r>
            <a:r>
              <a:rPr sz="1300" b="0">
                <a:solidFill>
                  <a:srgbClr val="D9E7E1"/>
                </a:solidFill>
                <a:latin typeface="Poppins"/>
              </a:rPr>
              <a:t> reimplementation of the DuckieMDP environment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9A45C"/>
                </a:solidFill>
                <a:latin typeface="Poppins"/>
              </a:rPr>
              <a:t>•  </a:t>
            </a:r>
            <a:r>
              <a:rPr sz="1300" b="0">
                <a:solidFill>
                  <a:srgbClr val="D9E7E1"/>
                </a:solidFill>
                <a:latin typeface="Poppins"/>
              </a:rPr>
              <a:t>Validated </a:t>
            </a:r>
            <a:r>
              <a:rPr sz="1300" b="1">
                <a:solidFill>
                  <a:srgbClr val="C9A45C"/>
                </a:solidFill>
                <a:latin typeface="Poppins"/>
              </a:rPr>
              <a:t>decision by decision</a:t>
            </a:r>
            <a:r>
              <a:rPr sz="1300" b="0">
                <a:solidFill>
                  <a:srgbClr val="D9E7E1"/>
                </a:solidFill>
                <a:latin typeface="Poppins"/>
              </a:rPr>
              <a:t> against Python — exact NumPy RNG streams, seeded episodes reproduce </a:t>
            </a:r>
            <a:r>
              <a:rPr sz="1300" b="1">
                <a:solidFill>
                  <a:srgbClr val="C9A45C"/>
                </a:solidFill>
                <a:latin typeface="Poppins"/>
              </a:rPr>
              <a:t>bit for bit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C9A45C"/>
                </a:solidFill>
                <a:latin typeface="Poppins"/>
              </a:rPr>
              <a:t>•  </a:t>
            </a:r>
            <a:r>
              <a:rPr sz="1300" b="0">
                <a:solidFill>
                  <a:srgbClr val="D9E7E1"/>
                </a:solidFill>
                <a:latin typeface="Poppins"/>
              </a:rPr>
              <a:t>Native renderer; DORASolvers.jl case study drives a full 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5029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9A45C"/>
                </a:solidFill>
                <a:latin typeface="Poppins"/>
              </a:rPr>
              <a:t>github.com/ai-vnv/Duckietown.jl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9A45C"/>
                </a:solidFill>
                <a:latin typeface="Poppins"/>
              </a:rPr>
              <a:t>M A I N   P R O J E C T   —   S U B M I T T E D   T O   I E E E   O J - I T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oppins SemiBold"/>
              </a:rPr>
              <a:t>A </a:t>
            </a:r>
            <a:r>
              <a:rPr sz="2800" b="1">
                <a:solidFill>
                  <a:srgbClr val="C9A45C"/>
                </a:solidFill>
                <a:latin typeface="Poppins SemiBold"/>
              </a:rPr>
              <a:t>Closed-Loop</a:t>
            </a:r>
            <a:r>
              <a:rPr sz="2800" b="1">
                <a:solidFill>
                  <a:srgbClr val="FFFFFF"/>
                </a:solidFill>
                <a:latin typeface="Poppins SemiBold"/>
              </a:rPr>
              <a:t> Evaluation 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oppins SemiBold"/>
              </a:rPr>
              <a:t>Capability </a:t>
            </a:r>
            <a:r>
              <a:rPr sz="2800" b="1">
                <a:solidFill>
                  <a:srgbClr val="C9A45C"/>
                </a:solidFill>
                <a:latin typeface="Poppins SemiBold"/>
              </a:rPr>
              <a:t>Loss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Poppins SemiBold"/>
              </a:rPr>
              <a:t>in Compressed Driving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8C4BA"/>
                </a:solidFill>
                <a:latin typeface="Poppins"/>
              </a:rPr>
              <a:t>From learning POMDPs to using one as a research instrument.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T H E   P R O B L E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A policy can pass the benchmark and fail to stop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Learned driving policies run on embedded computers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Standard practice: prune, distill, quantize before deployment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Progress measured by size, latency, aggregate accuracy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Aggregate scores hide </a:t>
            </a:r>
            <a:r>
              <a:rPr sz="1600" b="1">
                <a:solidFill>
                  <a:srgbClr val="C9A45C"/>
                </a:solidFill>
                <a:latin typeface="Poppins"/>
              </a:rPr>
              <a:t>which behaviors</a:t>
            </a:r>
            <a:r>
              <a:rPr sz="1600" b="0">
                <a:solidFill>
                  <a:srgbClr val="D9E7E1"/>
                </a:solidFill>
                <a:latin typeface="Poppins"/>
              </a:rPr>
              <a:t> compression removes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8C4BA"/>
                </a:solidFill>
                <a:latin typeface="Poppins"/>
              </a:rPr>
              <a:t>The question is not only how small the network can get — but which learned capabilities survive each stage.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K E Y   I D E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Closed loop, stage by stage — reversed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A policy acts on its own observations: small action drift </a:t>
            </a:r>
            <a:r>
              <a:rPr sz="1600" b="1">
                <a:solidFill>
                  <a:srgbClr val="C9A45C"/>
                </a:solidFill>
                <a:latin typeface="Poppins"/>
              </a:rPr>
              <a:t>compounds</a:t>
            </a:r>
            <a:r>
              <a:rPr sz="1600" b="0">
                <a:solidFill>
                  <a:srgbClr val="D9E7E1"/>
                </a:solidFill>
                <a:latin typeface="Poppins"/>
              </a:rPr>
              <a:t> through the feedback loop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Static test-set scores cannot see this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Scenario-based assessment, reversed: </a:t>
            </a:r>
            <a:r>
              <a:rPr sz="1600" b="1">
                <a:solidFill>
                  <a:srgbClr val="C9A45C"/>
                </a:solidFill>
                <a:latin typeface="Poppins"/>
              </a:rPr>
              <a:t>fix the scenarios and seeds</a:t>
            </a:r>
            <a:r>
              <a:rPr sz="1600" b="0">
                <a:solidFill>
                  <a:srgbClr val="D9E7E1"/>
                </a:solidFill>
                <a:latin typeface="Poppins"/>
              </a:rPr>
              <a:t>, vary the system under test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Every compression stage is a new configuration to re-certify; acceptance criteria fixed </a:t>
            </a:r>
            <a:r>
              <a:rPr sz="1600" b="1">
                <a:solidFill>
                  <a:srgbClr val="C9A45C"/>
                </a:solidFill>
                <a:latin typeface="Poppins"/>
              </a:rPr>
              <a:t>before</a:t>
            </a:r>
            <a:r>
              <a:rPr sz="1600" b="0">
                <a:solidFill>
                  <a:srgbClr val="D9E7E1"/>
                </a:solidFill>
                <a:latin typeface="Poppins"/>
              </a:rPr>
              <a:t> any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2120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8C4BA"/>
                </a:solidFill>
                <a:latin typeface="Poppins"/>
              </a:rPr>
              <a:t>Four questions: where does driving break · is it recoverable · does the data decide · does recovery survive lower precision.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T H E   D R I V I N G   T A S 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Five curricula, shared seeds, rising difficulty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938528"/>
            <a:ext cx="10753344" cy="186596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80"/>
            <a:ext cx="10607040" cy="17196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20624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0">
                <a:solidFill>
                  <a:srgbClr val="D9E7E1"/>
                </a:solidFill>
                <a:latin typeface="Poppins"/>
              </a:rPr>
              <a:t>C0–C1 lane following · C2 crossing pedestrian · C3 stop sign · C4 both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0">
                <a:solidFill>
                  <a:srgbClr val="D9E7E1"/>
                </a:solidFill>
                <a:latin typeface="Poppins"/>
              </a:rPr>
              <a:t>The stop curricula demand interrupting the drive, then re-establishing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S Y S T E M   U N D E R   T E S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A belief-state visuomotor policy (POMDP + PPO)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" y="1892808"/>
            <a:ext cx="6638544" cy="37701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65960"/>
            <a:ext cx="6492240" cy="3623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43800" y="2057400"/>
            <a:ext cx="41148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C9A45C"/>
                </a:solidFill>
                <a:latin typeface="Poppins"/>
              </a:rPr>
              <a:t>•  </a:t>
            </a:r>
            <a:r>
              <a:rPr sz="1300" b="0">
                <a:solidFill>
                  <a:srgbClr val="D9E7E1"/>
                </a:solidFill>
                <a:latin typeface="Poppins"/>
              </a:rPr>
              <a:t>Camera → </a:t>
            </a:r>
            <a:r>
              <a:rPr sz="1300" b="1">
                <a:solidFill>
                  <a:srgbClr val="C9A45C"/>
                </a:solidFill>
                <a:latin typeface="Poppins"/>
              </a:rPr>
              <a:t>YOLO11n</a:t>
            </a:r>
            <a:r>
              <a:rPr sz="1300" b="0">
                <a:solidFill>
                  <a:srgbClr val="D9E7E1"/>
                </a:solidFill>
                <a:latin typeface="Poppins"/>
              </a:rPr>
              <a:t> (objects) + </a:t>
            </a:r>
            <a:r>
              <a:rPr sz="1300" b="1">
                <a:solidFill>
                  <a:srgbClr val="C9A45C"/>
                </a:solidFill>
                <a:latin typeface="Poppins"/>
              </a:rPr>
              <a:t>MobileNetV3</a:t>
            </a:r>
            <a:r>
              <a:rPr sz="1300" b="0">
                <a:solidFill>
                  <a:srgbClr val="D9E7E1"/>
                </a:solidFill>
                <a:latin typeface="Poppins"/>
              </a:rPr>
              <a:t> (lane pose)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C9A45C"/>
                </a:solidFill>
                <a:latin typeface="Poppins"/>
              </a:rPr>
              <a:t>•  </a:t>
            </a:r>
            <a:r>
              <a:rPr sz="1300" b="0">
                <a:solidFill>
                  <a:srgbClr val="D9E7E1"/>
                </a:solidFill>
                <a:latin typeface="Poppins"/>
              </a:rPr>
              <a:t>EKFs fuse detections into a </a:t>
            </a:r>
            <a:r>
              <a:rPr sz="1300" b="1">
                <a:solidFill>
                  <a:srgbClr val="C9A45C"/>
                </a:solidFill>
                <a:latin typeface="Poppins"/>
              </a:rPr>
              <a:t>29-d belief</a:t>
            </a:r>
            <a:r>
              <a:rPr sz="1300" b="0">
                <a:solidFill>
                  <a:srgbClr val="D9E7E1"/>
                </a:solidFill>
                <a:latin typeface="Poppins"/>
              </a:rPr>
              <a:t> vector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C9A45C"/>
                </a:solidFill>
                <a:latin typeface="Poppins"/>
              </a:rPr>
              <a:t>•  </a:t>
            </a:r>
            <a:r>
              <a:rPr sz="1300" b="0">
                <a:solidFill>
                  <a:srgbClr val="D9E7E1"/>
                </a:solidFill>
                <a:latin typeface="Poppins"/>
              </a:rPr>
              <a:t>Belief-PPO actor: </a:t>
            </a:r>
            <a:r>
              <a:rPr sz="1300" b="1">
                <a:solidFill>
                  <a:srgbClr val="C9A45C"/>
                </a:solidFill>
                <a:latin typeface="Poppins"/>
              </a:rPr>
              <a:t>73,986</a:t>
            </a:r>
            <a:r>
              <a:rPr sz="1300" b="0">
                <a:solidFill>
                  <a:srgbClr val="D9E7E1"/>
                </a:solidFill>
                <a:latin typeface="Poppins"/>
              </a:rPr>
              <a:t> parameters (FP32)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C9A45C"/>
                </a:solidFill>
                <a:latin typeface="Poppins"/>
              </a:rPr>
              <a:t>•  </a:t>
            </a:r>
            <a:r>
              <a:rPr sz="1300" b="0">
                <a:solidFill>
                  <a:srgbClr val="D9E7E1"/>
                </a:solidFill>
                <a:latin typeface="Poppins"/>
              </a:rPr>
              <a:t>Only the actor is compressed; perception stays fixed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H O W   T H E   P I P E L I N E   W O R K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Ten configurations, one shared ancestry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1">
                <a:solidFill>
                  <a:srgbClr val="C9A45C"/>
                </a:solidFill>
                <a:latin typeface="Poppins"/>
              </a:rPr>
              <a:t>A0</a:t>
            </a:r>
            <a:r>
              <a:rPr sz="1400" b="0">
                <a:solidFill>
                  <a:srgbClr val="D9E7E1"/>
                </a:solidFill>
                <a:latin typeface="Poppins"/>
              </a:rPr>
              <a:t> original actor (reference)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1">
                <a:solidFill>
                  <a:srgbClr val="C9A45C"/>
                </a:solidFill>
                <a:latin typeface="Poppins"/>
              </a:rPr>
              <a:t>A1</a:t>
            </a:r>
            <a:r>
              <a:rPr sz="1400" b="0">
                <a:solidFill>
                  <a:srgbClr val="D9E7E1"/>
                </a:solidFill>
                <a:latin typeface="Poppins"/>
              </a:rPr>
              <a:t> structured pruning, hidden width 256 → 64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1">
                <a:solidFill>
                  <a:srgbClr val="C9A45C"/>
                </a:solidFill>
                <a:latin typeface="Poppins"/>
              </a:rPr>
              <a:t>A2</a:t>
            </a:r>
            <a:r>
              <a:rPr sz="1400" b="0">
                <a:solidFill>
                  <a:srgbClr val="D9E7E1"/>
                </a:solidFill>
                <a:latin typeface="Poppins"/>
              </a:rPr>
              <a:t> + distillation on the hardest curriculum only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1">
                <a:solidFill>
                  <a:srgbClr val="C9A45C"/>
                </a:solidFill>
                <a:latin typeface="Poppins"/>
              </a:rPr>
              <a:t>A3</a:t>
            </a:r>
            <a:r>
              <a:rPr sz="1400" b="0">
                <a:solidFill>
                  <a:srgbClr val="D9E7E1"/>
                </a:solidFill>
                <a:latin typeface="Poppins"/>
              </a:rPr>
              <a:t> + distillation on balanced C0–C4 data (62,176 states)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1">
                <a:solidFill>
                  <a:srgbClr val="C9A45C"/>
                </a:solidFill>
                <a:latin typeface="Poppins"/>
              </a:rPr>
              <a:t>A6</a:t>
            </a:r>
            <a:r>
              <a:rPr sz="1400" b="0">
                <a:solidFill>
                  <a:srgbClr val="D9E7E1"/>
                </a:solidFill>
                <a:latin typeface="Poppins"/>
              </a:rPr>
              <a:t> A3 → post-training INT8    </a:t>
            </a:r>
            <a:r>
              <a:rPr sz="1400" b="1">
                <a:solidFill>
                  <a:srgbClr val="C9A45C"/>
                </a:solidFill>
                <a:latin typeface="Poppins"/>
              </a:rPr>
              <a:t>A8</a:t>
            </a:r>
            <a:r>
              <a:rPr sz="1400" b="0">
                <a:solidFill>
                  <a:srgbClr val="D9E7E1"/>
                </a:solidFill>
                <a:latin typeface="Poppins"/>
              </a:rPr>
              <a:t> A3 parent → QAT INT8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1">
                <a:solidFill>
                  <a:srgbClr val="C9A45C"/>
                </a:solidFill>
                <a:latin typeface="Poppins"/>
              </a:rPr>
              <a:t>A9</a:t>
            </a:r>
            <a:r>
              <a:rPr sz="1400" b="0">
                <a:solidFill>
                  <a:srgbClr val="D9E7E1"/>
                </a:solidFill>
                <a:latin typeface="Poppins"/>
              </a:rPr>
              <a:t> A3 → FP16 cast (precision control)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1">
                <a:solidFill>
                  <a:srgbClr val="C9A45C"/>
                </a:solidFill>
                <a:latin typeface="Poppins"/>
              </a:rPr>
              <a:t>A4, A5, A7</a:t>
            </a:r>
            <a:r>
              <a:rPr sz="1400" b="0">
                <a:solidFill>
                  <a:srgbClr val="D9E7E1"/>
                </a:solidFill>
                <a:latin typeface="Poppins"/>
              </a:rPr>
              <a:t> controls: unpruned INT8, no-distill INT8, historical 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5778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8C4BA"/>
                </a:solidFill>
                <a:latin typeface="Poppins"/>
              </a:rPr>
              <a:t>Every arrow is evaluated the same way — no configuration is trusted on the previous stage's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E V A L U A T I O N   P R O T O C O 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400 matched episodes, two independent axes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1">
                <a:solidFill>
                  <a:srgbClr val="C9A45C"/>
                </a:solidFill>
                <a:latin typeface="Poppins"/>
              </a:rPr>
              <a:t>10 models × 5 curricula × 8 seeds</a:t>
            </a:r>
            <a:r>
              <a:rPr sz="1600" b="0">
                <a:solidFill>
                  <a:srgbClr val="D9E7E1"/>
                </a:solidFill>
                <a:latin typeface="Poppins"/>
              </a:rPr>
              <a:t> — identical seeds for all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Acceptance checks preregistered: completion, progress, collisions, stop compliance and restart, lane keeping, clearance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Evaluation backend verified </a:t>
            </a:r>
            <a:r>
              <a:rPr sz="1600" b="1">
                <a:solidFill>
                  <a:srgbClr val="C9A45C"/>
                </a:solidFill>
                <a:latin typeface="Poppins"/>
              </a:rPr>
              <a:t>bit-for-bit</a:t>
            </a:r>
            <a:r>
              <a:rPr sz="1600" b="0">
                <a:solidFill>
                  <a:srgbClr val="D9E7E1"/>
                </a:solidFill>
                <a:latin typeface="Poppins"/>
              </a:rPr>
              <a:t> reproducible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Axis 1: task verdicts (does it drive?)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Axis 2: action fidelity vs. the original on identical inputs (does it imitate?)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F I N D I N G S   1   &amp;  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Pruning breaks driving; rehearsal decides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Structured pruning: 73,986 → </a:t>
            </a:r>
            <a:r>
              <a:rPr sz="1600" b="1">
                <a:solidFill>
                  <a:srgbClr val="C9A45C"/>
                </a:solidFill>
                <a:latin typeface="Poppins"/>
              </a:rPr>
              <a:t>6,210</a:t>
            </a:r>
            <a:r>
              <a:rPr sz="1600" b="0">
                <a:solidFill>
                  <a:srgbClr val="D9E7E1"/>
                </a:solidFill>
                <a:latin typeface="Poppins"/>
              </a:rPr>
              <a:t> parameters (−91.6%) — </a:t>
            </a:r>
            <a:r>
              <a:rPr sz="1600" b="1">
                <a:solidFill>
                  <a:srgbClr val="C9A45C"/>
                </a:solidFill>
                <a:latin typeface="Poppins"/>
              </a:rPr>
              <a:t>fails all five</a:t>
            </a:r>
            <a:r>
              <a:rPr sz="1600" b="0">
                <a:solidFill>
                  <a:srgbClr val="D9E7E1"/>
                </a:solidFill>
                <a:latin typeface="Poppins"/>
              </a:rPr>
              <a:t> curricula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Same teacher, loss, optimizer, budget — only the rehearsal data differs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Distill on the hardest curriculum only → recovers </a:t>
            </a:r>
            <a:r>
              <a:rPr sz="1600" b="1">
                <a:solidFill>
                  <a:srgbClr val="C9A45C"/>
                </a:solidFill>
                <a:latin typeface="Poppins"/>
              </a:rPr>
              <a:t>C3–C4 only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Balanced rehearsal across all five → recovers </a:t>
            </a:r>
            <a:r>
              <a:rPr sz="1600" b="1">
                <a:solidFill>
                  <a:srgbClr val="C9A45C"/>
                </a:solidFill>
                <a:latin typeface="Poppins"/>
              </a:rPr>
              <a:t>all five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8C4BA"/>
                </a:solidFill>
                <a:latin typeface="Poppins"/>
              </a:rPr>
              <a:t>What the student rehearses is what the student keeps.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F I N D I N G  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INT8 undoes a completed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721608" y="1709928"/>
            <a:ext cx="4962696" cy="3712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783080"/>
            <a:ext cx="4816392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6692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0">
                <a:solidFill>
                  <a:srgbClr val="D9E7E1"/>
                </a:solidFill>
                <a:latin typeface="Poppins"/>
              </a:rPr>
              <a:t>Both INT8 routes fail C3–C4 from one byte-identical checkpoint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0">
                <a:solidFill>
                  <a:srgbClr val="D9E7E1"/>
                </a:solidFill>
                <a:latin typeface="Poppins"/>
              </a:rPr>
              <a:t>Stop-task completion falls from </a:t>
            </a:r>
            <a:r>
              <a:rPr sz="1400" b="1">
                <a:solidFill>
                  <a:srgbClr val="C9A45C"/>
                </a:solidFill>
                <a:latin typeface="Poppins"/>
              </a:rPr>
              <a:t>8/8 to 3/8</a:t>
            </a:r>
            <a:r>
              <a:rPr sz="1400" b="0">
                <a:solidFill>
                  <a:srgbClr val="D9E7E1"/>
                </a:solidFill>
                <a:latin typeface="Poppins"/>
              </a:rPr>
              <a:t> under PTQ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O P P O S I T E   F A I L U R E   P H E N O T Y P E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One checkpoint, two ways to fail a stop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709928"/>
            <a:ext cx="4292026" cy="4809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4145722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0" y="210312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1">
                <a:solidFill>
                  <a:srgbClr val="C9A45C"/>
                </a:solidFill>
                <a:latin typeface="Poppins"/>
              </a:rPr>
              <a:t>A6 (PTQ)</a:t>
            </a:r>
            <a:r>
              <a:rPr sz="1400" b="0">
                <a:solidFill>
                  <a:srgbClr val="D9E7E1"/>
                </a:solidFill>
                <a:latin typeface="Poppins"/>
              </a:rPr>
              <a:t> brakes correctly, parks </a:t>
            </a:r>
            <a:r>
              <a:rPr sz="1400" b="1">
                <a:solidFill>
                  <a:srgbClr val="C9A45C"/>
                </a:solidFill>
                <a:latin typeface="Poppins"/>
              </a:rPr>
              <a:t>0.22 m</a:t>
            </a:r>
            <a:r>
              <a:rPr sz="1400" b="0">
                <a:solidFill>
                  <a:srgbClr val="D9E7E1"/>
                </a:solidFill>
                <a:latin typeface="Poppins"/>
              </a:rPr>
              <a:t> before the line — and never moves again (to the 2700-step horizon)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1">
                <a:solidFill>
                  <a:srgbClr val="C9A45C"/>
                </a:solidFill>
                <a:latin typeface="Poppins"/>
              </a:rPr>
              <a:t>A8 (QAT)</a:t>
            </a:r>
            <a:r>
              <a:rPr sz="1400" b="0">
                <a:solidFill>
                  <a:srgbClr val="D9E7E1"/>
                </a:solidFill>
                <a:latin typeface="Poppins"/>
              </a:rPr>
              <a:t> drives </a:t>
            </a:r>
            <a:r>
              <a:rPr sz="1400" b="1">
                <a:solidFill>
                  <a:srgbClr val="C9A45C"/>
                </a:solidFill>
                <a:latin typeface="Poppins"/>
              </a:rPr>
              <a:t>through</a:t>
            </a:r>
            <a:r>
              <a:rPr sz="1400" b="0">
                <a:solidFill>
                  <a:srgbClr val="D9E7E1"/>
                </a:solidFill>
                <a:latin typeface="Poppins"/>
              </a:rPr>
              <a:t> the stop at low speed while the stop is still required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0">
                <a:solidFill>
                  <a:srgbClr val="D9E7E1"/>
                </a:solidFill>
                <a:latin typeface="Poppins"/>
              </a:rPr>
              <a:t>Same parent, same task, opposite failures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F I N D I N G S   4   &amp;  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Controls and fidelity: the cause is the 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Same PTQ on the </a:t>
            </a:r>
            <a:r>
              <a:rPr sz="1600" b="1">
                <a:solidFill>
                  <a:srgbClr val="C9A45C"/>
                </a:solidFill>
                <a:latin typeface="Poppins"/>
              </a:rPr>
              <a:t>unpruned</a:t>
            </a:r>
            <a:r>
              <a:rPr sz="1600" b="0">
                <a:solidFill>
                  <a:srgbClr val="D9E7E1"/>
                </a:solidFill>
                <a:latin typeface="Poppins"/>
              </a:rPr>
              <a:t> actor → passes all five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1">
                <a:solidFill>
                  <a:srgbClr val="C9A45C"/>
                </a:solidFill>
                <a:latin typeface="Poppins"/>
              </a:rPr>
              <a:t>FP16 cast</a:t>
            </a:r>
            <a:r>
              <a:rPr sz="1600" b="0">
                <a:solidFill>
                  <a:srgbClr val="D9E7E1"/>
                </a:solidFill>
                <a:latin typeface="Poppins"/>
              </a:rPr>
              <a:t> of the recovered actor → keeps all five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So the failure is </a:t>
            </a:r>
            <a:r>
              <a:rPr sz="1600" b="1">
                <a:solidFill>
                  <a:srgbClr val="C9A45C"/>
                </a:solidFill>
                <a:latin typeface="Poppins"/>
              </a:rPr>
              <a:t>narrow width × INT8</a:t>
            </a:r>
            <a:r>
              <a:rPr sz="1600" b="0">
                <a:solidFill>
                  <a:srgbClr val="D9E7E1"/>
                </a:solidFill>
                <a:latin typeface="Poppins"/>
              </a:rPr>
              <a:t>, not precision alone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QAT imitates the original </a:t>
            </a:r>
            <a:r>
              <a:rPr sz="1600" b="1">
                <a:solidFill>
                  <a:srgbClr val="C9A45C"/>
                </a:solidFill>
                <a:latin typeface="Poppins"/>
              </a:rPr>
              <a:t>more closely</a:t>
            </a:r>
            <a:r>
              <a:rPr sz="1600" b="0">
                <a:solidFill>
                  <a:srgbClr val="D9E7E1"/>
                </a:solidFill>
                <a:latin typeface="Poppins"/>
              </a:rPr>
              <a:t> than PTQ — and drives worse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The unpruned INT8 control drives everything — and fails the similarity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3949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A8C4BA"/>
                </a:solidFill>
                <a:latin typeface="Poppins"/>
              </a:rPr>
              <a:t>Action-level similarity is not an acceptance test — in either direction.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W H A T   C O M P R E S S I O N   B U Y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Actor cost across precisions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96596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                           Param. memory              Median latency             All curricula         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9E7E1"/>
                </a:solidFill>
                <a:latin typeface="Poppins"/>
              </a:rPr>
              <a:t>A3 FP32                    24.8 KB                    19.4 µs                    pass                  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9E7E1"/>
                </a:solidFill>
                <a:latin typeface="Poppins"/>
              </a:rPr>
              <a:t>A9 FP16                    </a:t>
            </a:r>
            <a:r>
              <a:rPr sz="1500" b="1">
                <a:solidFill>
                  <a:srgbClr val="C9A45C"/>
                </a:solidFill>
                <a:latin typeface="Poppins"/>
              </a:rPr>
              <a:t>12.4 KB</a:t>
            </a:r>
            <a:r>
              <a:rPr sz="1500" b="0">
                <a:solidFill>
                  <a:srgbClr val="D9E7E1"/>
                </a:solidFill>
                <a:latin typeface="Poppins"/>
              </a:rPr>
              <a:t>                24.5 µs (+26%)             pass                  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D9E7E1"/>
                </a:solidFill>
                <a:latin typeface="Poppins"/>
              </a:rPr>
              <a:t>A6 INT8                    </a:t>
            </a:r>
            <a:r>
              <a:rPr sz="1500" b="1">
                <a:solidFill>
                  <a:srgbClr val="C9A45C"/>
                </a:solidFill>
                <a:latin typeface="Poppins"/>
              </a:rPr>
              <a:t>7.6 KB</a:t>
            </a:r>
            <a:r>
              <a:rPr sz="1500" b="0">
                <a:solidFill>
                  <a:srgbClr val="D9E7E1"/>
                </a:solidFill>
                <a:latin typeface="Poppins"/>
              </a:rPr>
              <a:t>                 </a:t>
            </a:r>
            <a:r>
              <a:rPr sz="1500" b="1">
                <a:solidFill>
                  <a:srgbClr val="C9A45C"/>
                </a:solidFill>
                <a:latin typeface="Poppins"/>
              </a:rPr>
              <a:t>12.9 µs</a:t>
            </a:r>
            <a:r>
              <a:rPr sz="1500" b="0">
                <a:solidFill>
                  <a:srgbClr val="D9E7E1"/>
                </a:solidFill>
                <a:latin typeface="Poppins"/>
              </a:rPr>
              <a:t> (1.50×)        fail C3–C4      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9768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0">
                <a:solidFill>
                  <a:srgbClr val="D9E7E1"/>
                </a:solidFill>
                <a:latin typeface="Poppins"/>
              </a:rPr>
              <a:t>FP16 halves memory but is slower here (no native half path on this CPU)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C9A45C"/>
                </a:solidFill>
                <a:latin typeface="Poppins"/>
              </a:rPr>
              <a:t>•  </a:t>
            </a:r>
            <a:r>
              <a:rPr sz="1400" b="0">
                <a:solidFill>
                  <a:srgbClr val="D9E7E1"/>
                </a:solidFill>
                <a:latin typeface="Poppins"/>
              </a:rPr>
              <a:t>The actor is under </a:t>
            </a:r>
            <a:r>
              <a:rPr sz="1400" b="1">
                <a:solidFill>
                  <a:srgbClr val="C9A45C"/>
                </a:solidFill>
                <a:latin typeface="Poppins"/>
              </a:rPr>
              <a:t>0.1%</a:t>
            </a:r>
            <a:r>
              <a:rPr sz="1400" b="0">
                <a:solidFill>
                  <a:srgbClr val="D9E7E1"/>
                </a:solidFill>
                <a:latin typeface="Poppins"/>
              </a:rPr>
              <a:t> of end-to-end step cost — perception dominates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T A K E A W A Y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Judge compressed policies by how they drive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Compression is a sequence of </a:t>
            </a:r>
            <a:r>
              <a:rPr sz="1600" b="1">
                <a:solidFill>
                  <a:srgbClr val="C9A45C"/>
                </a:solidFill>
                <a:latin typeface="Poppins"/>
              </a:rPr>
              <a:t>behavioral transitions</a:t>
            </a:r>
            <a:r>
              <a:rPr sz="1600" b="0">
                <a:solidFill>
                  <a:srgbClr val="D9E7E1"/>
                </a:solidFill>
                <a:latin typeface="Poppins"/>
              </a:rPr>
              <a:t>: lose, recover, lose again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Evaluate </a:t>
            </a:r>
            <a:r>
              <a:rPr sz="1600" b="1">
                <a:solidFill>
                  <a:srgbClr val="C9A45C"/>
                </a:solidFill>
                <a:latin typeface="Poppins"/>
              </a:rPr>
              <a:t>every stage</a:t>
            </a:r>
            <a:r>
              <a:rPr sz="1600" b="0">
                <a:solidFill>
                  <a:srgbClr val="D9E7E1"/>
                </a:solidFill>
                <a:latin typeface="Poppins"/>
              </a:rPr>
              <a:t> in closed loop — no stage is safe by inheritance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Choose rehearsal data to cover </a:t>
            </a:r>
            <a:r>
              <a:rPr sz="1600" b="1">
                <a:solidFill>
                  <a:srgbClr val="C9A45C"/>
                </a:solidFill>
                <a:latin typeface="Poppins"/>
              </a:rPr>
              <a:t>everything</a:t>
            </a:r>
            <a:r>
              <a:rPr sz="1600" b="0">
                <a:solidFill>
                  <a:srgbClr val="D9E7E1"/>
                </a:solidFill>
                <a:latin typeface="Poppins"/>
              </a:rPr>
              <a:t> the policy must keep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A completed recovery is </a:t>
            </a:r>
            <a:r>
              <a:rPr sz="1600" b="1">
                <a:solidFill>
                  <a:srgbClr val="C9A45C"/>
                </a:solidFill>
                <a:latin typeface="Poppins"/>
              </a:rPr>
              <a:t>not</a:t>
            </a:r>
            <a:r>
              <a:rPr sz="1600" b="0">
                <a:solidFill>
                  <a:srgbClr val="D9E7E1"/>
                </a:solidFill>
                <a:latin typeface="Poppins"/>
              </a:rPr>
              <a:t> robust to a later precision cut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Action-level similarity is not an acceptance test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F U T U R E   W O R K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Where this goes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1">
                <a:solidFill>
                  <a:srgbClr val="C9A45C"/>
                </a:solidFill>
                <a:latin typeface="Poppins"/>
              </a:rPr>
              <a:t>Wider settings</a:t>
            </a:r>
            <a:r>
              <a:rPr sz="1600" b="0">
                <a:solidFill>
                  <a:srgbClr val="D9E7E1"/>
                </a:solidFill>
                <a:latin typeface="Poppins"/>
              </a:rPr>
              <a:t>: more quantization configurations, more training realizations, more seeds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1">
                <a:solidFill>
                  <a:srgbClr val="C9A45C"/>
                </a:solidFill>
                <a:latin typeface="Poppins"/>
              </a:rPr>
              <a:t>Compress perception</a:t>
            </a:r>
            <a:r>
              <a:rPr sz="1600" b="0">
                <a:solidFill>
                  <a:srgbClr val="D9E7E1"/>
                </a:solidFill>
                <a:latin typeface="Poppins"/>
              </a:rPr>
              <a:t>: the other 99.9% of step cost, under the same acceptance protocol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1">
                <a:solidFill>
                  <a:srgbClr val="C9A45C"/>
                </a:solidFill>
                <a:latin typeface="Poppins"/>
              </a:rPr>
              <a:t>Transfer the protocol</a:t>
            </a:r>
            <a:r>
              <a:rPr sz="1600" b="0">
                <a:solidFill>
                  <a:srgbClr val="D9E7E1"/>
                </a:solidFill>
                <a:latin typeface="Poppins"/>
              </a:rPr>
              <a:t>: other policy stacks, other simulators, eventually hardware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1">
                <a:solidFill>
                  <a:srgbClr val="C9A45C"/>
                </a:solidFill>
                <a:latin typeface="Poppins"/>
              </a:rPr>
              <a:t>Julia-native line</a:t>
            </a:r>
            <a:r>
              <a:rPr sz="1600" b="0">
                <a:solidFill>
                  <a:srgbClr val="D9E7E1"/>
                </a:solidFill>
                <a:latin typeface="Poppins"/>
              </a:rPr>
              <a:t>: Duckietown.jl as the ground for solver-level V&amp;V experiments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45C"/>
                </a:solidFill>
                <a:latin typeface="Poppins"/>
              </a:rPr>
              <a:t>W H A T   T H E   I N T E R N S H I P   B U I L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Poppins SemiBold"/>
              </a:rPr>
              <a:t>Fundamentals first, then honest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From backend engineering to an </a:t>
            </a:r>
            <a:r>
              <a:rPr sz="1600" b="1">
                <a:solidFill>
                  <a:srgbClr val="C9A45C"/>
                </a:solidFill>
                <a:latin typeface="Poppins"/>
              </a:rPr>
              <a:t>RL / POMDP research workflow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1">
                <a:solidFill>
                  <a:srgbClr val="C9A45C"/>
                </a:solidFill>
                <a:latin typeface="Poppins"/>
              </a:rPr>
              <a:t>4 public repos</a:t>
            </a:r>
            <a:r>
              <a:rPr sz="1600" b="0">
                <a:solidFill>
                  <a:srgbClr val="D9E7E1"/>
                </a:solidFill>
                <a:latin typeface="Poppins"/>
              </a:rPr>
              <a:t> · </a:t>
            </a:r>
            <a:r>
              <a:rPr sz="1600" b="1">
                <a:solidFill>
                  <a:srgbClr val="C9A45C"/>
                </a:solidFill>
                <a:latin typeface="Poppins"/>
              </a:rPr>
              <a:t>2 papers</a:t>
            </a:r>
            <a:r>
              <a:rPr sz="1600" b="0">
                <a:solidFill>
                  <a:srgbClr val="D9E7E1"/>
                </a:solidFill>
                <a:latin typeface="Poppins"/>
              </a:rPr>
              <a:t> · </a:t>
            </a:r>
            <a:r>
              <a:rPr sz="1600" b="1">
                <a:solidFill>
                  <a:srgbClr val="C9A45C"/>
                </a:solidFill>
                <a:latin typeface="Poppins"/>
              </a:rPr>
              <a:t>1 Julia package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From a bad first month to an </a:t>
            </a:r>
            <a:r>
              <a:rPr sz="1600" b="1">
                <a:solidFill>
                  <a:srgbClr val="C9A45C"/>
                </a:solidFill>
                <a:latin typeface="Poppins"/>
              </a:rPr>
              <a:t>OJ-ITS submission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9A45C"/>
                </a:solidFill>
                <a:latin typeface="Poppins"/>
              </a:rPr>
              <a:t>•  </a:t>
            </a:r>
            <a:r>
              <a:rPr sz="1600" b="0">
                <a:solidFill>
                  <a:srgbClr val="D9E7E1"/>
                </a:solidFill>
                <a:latin typeface="Poppins"/>
              </a:rPr>
              <a:t>The lesson that stuck: measure what matters, </a:t>
            </a:r>
            <a:r>
              <a:rPr sz="1600" b="1">
                <a:solidFill>
                  <a:srgbClr val="C9A45C"/>
                </a:solidFill>
                <a:latin typeface="Poppins"/>
              </a:rPr>
              <a:t>in closed loop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5604B"/>
              </a:gs>
              <a:gs pos="100000">
                <a:srgbClr val="07332A"/>
              </a:gs>
            </a:gsLst>
            <a:lin scaled="0" ang="17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9A45C"/>
                </a:solidFill>
                <a:latin typeface="Poppins"/>
              </a:rPr>
              <a:t>T H A N K   Y O 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Poppins SemiBold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9E7E1"/>
                </a:solidFill>
                <a:latin typeface="Poppins"/>
              </a:rPr>
              <a:t>Everything in this talk is public: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A45C"/>
                </a:solidFill>
                <a:latin typeface="Poppins"/>
              </a:rPr>
              <a:t>github.com/ai-vnv/CompressedAutoDriving   ·   github.com/PannnTastic/DuckieMDP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A45C"/>
                </a:solidFill>
                <a:latin typeface="Poppins"/>
              </a:rPr>
              <a:t>github.com/PannnTastic/Decision-Making-Under-Uncertainty   ·   github.com/ai-vnv/Duckietown.jl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8C4BA"/>
                </a:solidFill>
                <a:latin typeface="Poppins"/>
              </a:rPr>
              <a:t>Internship summary — AI Verification &amp; Validation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